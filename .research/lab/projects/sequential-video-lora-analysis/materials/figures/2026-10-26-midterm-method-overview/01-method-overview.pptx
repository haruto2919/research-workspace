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91440"/>
            <a:ext cx="97840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92437"/>
                </a:solidFill>
                <a:latin typeface="Noto Sans CJK JP"/>
              </a:rPr>
              <a:t>画像モデルとの差分として、動画の動的情報を取り出す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448056"/>
            <a:ext cx="93268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B82"/>
                </a:solidFill>
                <a:latin typeface="Noto Sans CJK JP"/>
              </a:rPr>
              <a:t>下から上へ読む：入力 → 分離候補 → ΔWの中身を検証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68128" y="164592"/>
            <a:ext cx="1627632" cy="347472"/>
          </a:xfrm>
          <a:prstGeom prst="roundRect">
            <a:avLst/>
          </a:prstGeom>
          <a:solidFill>
            <a:srgbClr val="FFF7F3"/>
          </a:solidFill>
          <a:ln w="1905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01168"/>
            <a:ext cx="14813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24A33"/>
                </a:solidFill>
                <a:latin typeface="Noto Sans CJK JP"/>
              </a:rPr>
              <a:t>提案構成（設計中）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" y="731520"/>
            <a:ext cx="11430000" cy="0"/>
          </a:xfrm>
          <a:prstGeom prst="line">
            <a:avLst/>
          </a:prstGeom>
          <a:ln w="12700">
            <a:solidFill>
              <a:srgbClr val="E1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4320" y="1024128"/>
            <a:ext cx="0" cy="5138928"/>
          </a:xfrm>
          <a:prstGeom prst="line">
            <a:avLst/>
          </a:prstGeom>
          <a:ln w="3810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8288" y="3401568"/>
            <a:ext cx="9601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5EAA"/>
                </a:solidFill>
                <a:latin typeface="Noto Sans CJK JP"/>
              </a:rPr>
              <a:t>下から上へ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804672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92437"/>
                </a:solidFill>
                <a:latin typeface="Noto Sans CJK JP"/>
              </a:rPr>
              <a:t>③ 解析：ΔWの中身を確かめる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832104"/>
            <a:ext cx="192024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92437"/>
                </a:solidFill>
                <a:latin typeface="Noto Sans CJK JP"/>
              </a:rPr>
              <a:t>検証する仮説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832104"/>
            <a:ext cx="320040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2"/>
                </a:solidFill>
                <a:latin typeface="Noto Sans CJK JP"/>
              </a:rPr>
              <a:t>「はず」を対照実験で確かめる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1152144"/>
            <a:ext cx="1975104" cy="411480"/>
          </a:xfrm>
          <a:prstGeom prst="roundRect">
            <a:avLst/>
          </a:prstGeom>
          <a:solidFill>
            <a:srgbClr val="E1E6EC"/>
          </a:solidFill>
          <a:ln w="1905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188720"/>
            <a:ext cx="1828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92437"/>
                </a:solidFill>
                <a:latin typeface="Noto Sans CJK JP"/>
              </a:rPr>
              <a:t>Base：W₀のみ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1664208"/>
            <a:ext cx="1975104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1700784"/>
            <a:ext cx="1828800" cy="3383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92437"/>
                </a:solidFill>
                <a:latin typeface="Noto Sans CJK JP"/>
              </a:rPr>
              <a:t>Base＋ΔW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093976"/>
            <a:ext cx="144475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B6B82"/>
                </a:solidFill>
                <a:latin typeface="Noto Sans CJK JP"/>
              </a:rPr>
              <a:t>同じ構造のまま比較</a:t>
            </a:r>
          </a:p>
        </p:txBody>
      </p:sp>
      <p:sp>
        <p:nvSpPr>
          <p:cNvPr id="17" name="Oval 16"/>
          <p:cNvSpPr/>
          <p:nvPr/>
        </p:nvSpPr>
        <p:spPr>
          <a:xfrm>
            <a:off x="3008376" y="1261872"/>
            <a:ext cx="1956816" cy="7040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1325880"/>
            <a:ext cx="16824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192437"/>
                </a:solidFill>
                <a:latin typeface="Noto Sans CJK JP"/>
              </a:rPr>
              <a:t>比較上の差分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1609344"/>
            <a:ext cx="166420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B6B82"/>
                </a:solidFill>
                <a:latin typeface="Noto Sans CJK JP"/>
              </a:rPr>
              <a:t>動画から得た増分候補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1362456"/>
            <a:ext cx="448056" cy="146304"/>
          </a:xfrm>
          <a:prstGeom prst="line">
            <a:avLst/>
          </a:prstGeom>
          <a:ln w="21590">
            <a:solidFill>
              <a:srgbClr val="3643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60320" y="1709928"/>
            <a:ext cx="448056" cy="155448"/>
          </a:xfrm>
          <a:prstGeom prst="line">
            <a:avLst/>
          </a:prstGeom>
          <a:ln w="21590">
            <a:solidFill>
              <a:srgbClr val="3643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360" y="2029968"/>
            <a:ext cx="221284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B6B82"/>
                </a:solidFill>
                <a:latin typeface="Noto Sans CJK JP"/>
              </a:rPr>
              <a:t>※ 中身が動きだけとは限らない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1115568"/>
            <a:ext cx="5925312" cy="3566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06440" y="1170432"/>
            <a:ext cx="246888" cy="246888"/>
          </a:xfrm>
          <a:prstGeom prst="ellipse">
            <a:avLst/>
          </a:prstGeom>
          <a:solidFill>
            <a:srgbClr val="FFF7F3"/>
          </a:solidFill>
          <a:ln w="1397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1165860"/>
            <a:ext cx="24688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4A33"/>
                </a:solidFill>
                <a:latin typeface="Noto Sans CJK JP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1152144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92437"/>
                </a:solidFill>
                <a:latin typeface="Noto Sans CJK JP"/>
              </a:rPr>
              <a:t>時間を変える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1152144"/>
            <a:ext cx="39684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437"/>
                </a:solidFill>
                <a:latin typeface="Noto Sans CJK JP"/>
              </a:rPr>
              <a:t>並べ替え・逆再生 → ΔWの寄与は反応するはず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1536192"/>
            <a:ext cx="5925312" cy="3566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06440" y="1591056"/>
            <a:ext cx="246888" cy="246888"/>
          </a:xfrm>
          <a:prstGeom prst="ellipse">
            <a:avLst/>
          </a:prstGeom>
          <a:solidFill>
            <a:srgbClr val="FFF7F3"/>
          </a:solidFill>
          <a:ln w="1397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1586484"/>
            <a:ext cx="24688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4A33"/>
                </a:solidFill>
                <a:latin typeface="Noto Sans CJK JP"/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1572768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92437"/>
                </a:solidFill>
                <a:latin typeface="Noto Sans CJK JP"/>
              </a:rPr>
              <a:t>見た目を変える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1231" y="1572768"/>
            <a:ext cx="39684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437"/>
                </a:solidFill>
                <a:latin typeface="Noto Sans CJK JP"/>
              </a:rPr>
              <a:t>背景・色 → ΔWの寄与は変わらないはず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1956816"/>
            <a:ext cx="5925312" cy="35661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06440" y="2011680"/>
            <a:ext cx="246888" cy="246888"/>
          </a:xfrm>
          <a:prstGeom prst="ellipse">
            <a:avLst/>
          </a:prstGeom>
          <a:solidFill>
            <a:srgbClr val="FFF7F3"/>
          </a:solidFill>
          <a:ln w="1397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2007108"/>
            <a:ext cx="246888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4A33"/>
                </a:solidFill>
                <a:latin typeface="Noto Sans CJK JP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1993392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>
                <a:solidFill>
                  <a:srgbClr val="192437"/>
                </a:solidFill>
                <a:latin typeface="Noto Sans CJK JP"/>
              </a:rPr>
              <a:t>ΔWそのもの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71231" y="1993392"/>
            <a:ext cx="3968496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192437"/>
                </a:solidFill>
                <a:latin typeface="Noto Sans CJK JP"/>
              </a:rPr>
              <a:t>外す・強さを変える・特異値を調べる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" y="2395728"/>
            <a:ext cx="11045952" cy="2706624"/>
          </a:xfrm>
          <a:prstGeom prst="roundRect">
            <a:avLst/>
          </a:prstGeom>
          <a:noFill/>
          <a:ln w="17780">
            <a:solidFill>
              <a:srgbClr val="3643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2441448"/>
            <a:ext cx="411480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92437"/>
                </a:solidFill>
                <a:latin typeface="Noto Sans CJK JP"/>
              </a:rPr>
              <a:t>② 分離：凍結 W₀ ＋ LoRA ΔW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468880"/>
            <a:ext cx="19385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2"/>
                </a:solidFill>
                <a:latin typeface="Noto Sans CJK JP"/>
              </a:rPr>
              <a:t>LoRA以外は凍結／固定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76472" y="2706624"/>
            <a:ext cx="2075688" cy="5303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9624" y="2752344"/>
            <a:ext cx="1929384" cy="24396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437"/>
                </a:solidFill>
                <a:latin typeface="Noto Sans CJK JP"/>
              </a:rPr>
              <a:t>Q/V出力  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9624" y="2955889"/>
            <a:ext cx="1929384" cy="2280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82"/>
                </a:solidFill>
                <a:latin typeface="Noto Sans CJK JP"/>
              </a:rPr>
              <a:t>h = (W₀＋ΔW)x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34456" y="2798064"/>
            <a:ext cx="144475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5B6B82"/>
                </a:solidFill>
                <a:latin typeface="Noto Sans CJK JP"/>
              </a:rPr>
              <a:t>W₀＋ΔW：重み
h：出力</a:t>
            </a:r>
          </a:p>
        </p:txBody>
      </p:sp>
      <p:sp>
        <p:nvSpPr>
          <p:cNvPr id="45" name="Oval 44"/>
          <p:cNvSpPr/>
          <p:nvPr/>
        </p:nvSpPr>
        <p:spPr>
          <a:xfrm>
            <a:off x="4535424" y="3255264"/>
            <a:ext cx="530352" cy="530352"/>
          </a:xfrm>
          <a:prstGeom prst="ellipse">
            <a:avLst/>
          </a:prstGeom>
          <a:solidFill>
            <a:srgbClr val="FFFFFF"/>
          </a:solidFill>
          <a:ln w="2159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39996" y="3250692"/>
            <a:ext cx="521207" cy="5212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64355"/>
                </a:solidFill>
                <a:latin typeface="Noto Sans CJK JP"/>
              </a:rPr>
              <a:t>＋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800600" y="3236976"/>
            <a:ext cx="0" cy="18288"/>
          </a:xfrm>
          <a:prstGeom prst="line">
            <a:avLst/>
          </a:prstGeom>
          <a:ln w="3048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856231" y="3547872"/>
            <a:ext cx="2148840" cy="768096"/>
          </a:xfrm>
          <a:prstGeom prst="roundRect">
            <a:avLst/>
          </a:prstGeom>
          <a:solidFill>
            <a:srgbClr val="E5EDF7"/>
          </a:solidFill>
          <a:ln w="2286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9384" y="3593591"/>
            <a:ext cx="2002536" cy="3533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92437"/>
                </a:solidFill>
                <a:latin typeface="Noto Sans CJK JP"/>
              </a:rPr>
              <a:t>Pretrained Weights  W₀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9384" y="3908877"/>
            <a:ext cx="2002536" cy="33028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Noto Sans CJK JP"/>
              </a:rPr>
              <a:t>画像で事前学習・凍結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04872" y="4133087"/>
            <a:ext cx="1051560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5EAA"/>
                </a:solidFill>
                <a:latin typeface="Noto Sans CJK JP"/>
              </a:rPr>
              <a:t>W₀x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96128" y="3547872"/>
            <a:ext cx="2148840" cy="768096"/>
          </a:xfrm>
          <a:prstGeom prst="rect">
            <a:avLst/>
          </a:prstGeom>
          <a:solidFill>
            <a:srgbClr val="F6B17E"/>
          </a:solidFill>
          <a:ln w="25400">
            <a:solidFill>
              <a:srgbClr val="E24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670548" y="3712463"/>
            <a:ext cx="0" cy="585217"/>
          </a:xfrm>
          <a:prstGeom prst="line">
            <a:avLst/>
          </a:prstGeom>
          <a:ln w="20320">
            <a:solidFill>
              <a:srgbClr val="E24A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78424" y="3575304"/>
            <a:ext cx="198424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192437"/>
                </a:solidFill>
                <a:latin typeface="Noto Sans CJK JP"/>
              </a:rPr>
              <a:t>LoRA  ΔW = BA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51576" y="3858768"/>
            <a:ext cx="7680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2437"/>
                </a:solidFill>
                <a:latin typeface="Noto Sans CJK JP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3858768"/>
            <a:ext cx="7680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2437"/>
                </a:solidFill>
                <a:latin typeface="Noto Sans CJK JP"/>
              </a:rPr>
              <a:t>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9864" y="4133087"/>
            <a:ext cx="1801368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E24A33"/>
                </a:solidFill>
                <a:latin typeface="Noto Sans CJK JP"/>
              </a:rPr>
              <a:t>ΔWx（時間増分候補）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926080" y="3529584"/>
            <a:ext cx="1609344" cy="18288"/>
          </a:xfrm>
          <a:prstGeom prst="line">
            <a:avLst/>
          </a:prstGeom>
          <a:ln w="3175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 flipV="1">
            <a:off x="5065776" y="3529584"/>
            <a:ext cx="1609344" cy="18288"/>
          </a:xfrm>
          <a:prstGeom prst="line">
            <a:avLst/>
          </a:prstGeom>
          <a:ln w="31750">
            <a:solidFill>
              <a:srgbClr val="E24A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813048" y="4498848"/>
            <a:ext cx="1975104" cy="466344"/>
          </a:xfrm>
          <a:prstGeom prst="roundRect">
            <a:avLst/>
          </a:prstGeom>
          <a:solidFill>
            <a:srgbClr val="F7F9FC"/>
          </a:solidFill>
          <a:ln w="1905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86200" y="4535424"/>
            <a:ext cx="1828800" cy="3931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92437"/>
                </a:solidFill>
                <a:latin typeface="Noto Sans CJK JP"/>
              </a:rPr>
              <a:t>Frame / tubelet Embedding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800600" y="4379976"/>
            <a:ext cx="0" cy="118872"/>
          </a:xfrm>
          <a:prstGeom prst="line">
            <a:avLst/>
          </a:prstGeom>
          <a:ln w="31750">
            <a:solidFill>
              <a:srgbClr val="2E5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 flipV="1">
            <a:off x="2926080" y="4315968"/>
            <a:ext cx="1874520" cy="64008"/>
          </a:xfrm>
          <a:prstGeom prst="line">
            <a:avLst/>
          </a:prstGeom>
          <a:ln w="2794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00600" y="4315968"/>
            <a:ext cx="1874520" cy="64008"/>
          </a:xfrm>
          <a:prstGeom prst="line">
            <a:avLst/>
          </a:prstGeom>
          <a:ln w="27940">
            <a:solidFill>
              <a:srgbClr val="E24A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352544" y="4288536"/>
            <a:ext cx="292608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64355"/>
                </a:solidFill>
                <a:latin typeface="Noto Sans CJK JP"/>
              </a:rPr>
              <a:t>x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1248" y="4498848"/>
            <a:ext cx="2267712" cy="438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24A3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4535424"/>
            <a:ext cx="2121408" cy="36575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E24A33"/>
                </a:solidFill>
                <a:latin typeface="Noto Sans CJK JP"/>
              </a:rPr>
              <a:t>任意候補 E1：tubelet埋め込みLoRA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108960" y="4718304"/>
            <a:ext cx="704088" cy="0"/>
          </a:xfrm>
          <a:prstGeom prst="line">
            <a:avLst/>
          </a:prstGeom>
          <a:ln w="20320">
            <a:solidFill>
              <a:srgbClr val="E24A3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8321040" y="4206240"/>
            <a:ext cx="288036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B8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94192" y="4251959"/>
            <a:ext cx="2734056" cy="286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92437"/>
                </a:solidFill>
                <a:latin typeface="Noto Sans CJK JP"/>
              </a:rPr>
              <a:t>学習方法（差し替え可能）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94192" y="4498482"/>
            <a:ext cx="2734056" cy="26737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B6B82"/>
                </a:solidFill>
                <a:latin typeface="Noto Sans CJK JP"/>
              </a:rPr>
              <a:t>自己教師あり（例：対照学習）／教師あり</a:t>
            </a:r>
          </a:p>
        </p:txBody>
      </p:sp>
      <p:cxnSp>
        <p:nvCxnSpPr>
          <p:cNvPr id="72" name="Connector 71"/>
          <p:cNvCxnSpPr/>
          <p:nvPr/>
        </p:nvCxnSpPr>
        <p:spPr>
          <a:xfrm flipH="1" flipV="1">
            <a:off x="7744968" y="4023360"/>
            <a:ext cx="576072" cy="475488"/>
          </a:xfrm>
          <a:prstGeom prst="line">
            <a:avLst/>
          </a:prstGeom>
          <a:ln w="22860">
            <a:solidFill>
              <a:srgbClr val="E24A3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744968" y="3913632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E24A33"/>
                </a:solidFill>
                <a:latin typeface="Noto Sans CJK JP"/>
              </a:rPr>
              <a:t>勾配はΔWだけ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21040" y="3182112"/>
            <a:ext cx="2880360" cy="694944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2E5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94192" y="3227832"/>
            <a:ext cx="2734056" cy="31967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92437"/>
                </a:solidFill>
                <a:latin typeface="Noto Sans CJK JP"/>
              </a:rPr>
              <a:t>フレーム順はパラメータなしで付与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94192" y="3508735"/>
            <a:ext cx="2734056" cy="29882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>
                <a:solidFill>
                  <a:srgbClr val="5B6B82"/>
                </a:solidFill>
                <a:latin typeface="Noto Sans CJK JP"/>
              </a:rPr>
              <a:t>例：causal mask／学習可能な時間moduleなし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83296" y="4864608"/>
            <a:ext cx="324612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B6B82"/>
                </a:solidFill>
                <a:latin typeface="Noto Sans CJK JP"/>
              </a:rPr>
              <a:t>補助対照：L0（順序不変）／L1（時間側を学習）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7" y="5330952"/>
            <a:ext cx="26060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192437"/>
                </a:solidFill>
                <a:latin typeface="Noto Sans CJK JP"/>
              </a:rPr>
              <a:t>① 入力：動画ストリーム</a:t>
            </a:r>
          </a:p>
        </p:txBody>
      </p:sp>
      <p:pic>
        <p:nvPicPr>
          <p:cNvPr id="79" name="Picture 78" descr="input-fram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5522976"/>
            <a:ext cx="1417320" cy="795528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3584448" y="5522976"/>
            <a:ext cx="1417320" cy="795528"/>
          </a:xfrm>
          <a:prstGeom prst="rect">
            <a:avLst/>
          </a:prstGeom>
          <a:noFill/>
          <a:ln w="1270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nput-fram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5" y="5596128"/>
            <a:ext cx="1417320" cy="795528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3785615" y="5596128"/>
            <a:ext cx="1417320" cy="795528"/>
          </a:xfrm>
          <a:prstGeom prst="rect">
            <a:avLst/>
          </a:prstGeom>
          <a:noFill/>
          <a:ln w="1270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nput-frame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5669280"/>
            <a:ext cx="1417320" cy="795528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3986784" y="5669280"/>
            <a:ext cx="1417320" cy="795528"/>
          </a:xfrm>
          <a:prstGeom prst="rect">
            <a:avLst/>
          </a:prstGeom>
          <a:noFill/>
          <a:ln w="1270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nput-frame-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5742432"/>
            <a:ext cx="1417320" cy="795528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4187952" y="5742432"/>
            <a:ext cx="1417320" cy="795528"/>
          </a:xfrm>
          <a:prstGeom prst="rect">
            <a:avLst/>
          </a:prstGeom>
          <a:noFill/>
          <a:ln w="12700">
            <a:solidFill>
              <a:srgbClr val="36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59152" y="5797296"/>
            <a:ext cx="10789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5B6B82"/>
                </a:solidFill>
                <a:latin typeface="Noto Sans CJK JP"/>
              </a:rPr>
              <a:t>T枚の窓
fₜ₋T₊₁ … fₜ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4800600" y="4974336"/>
            <a:ext cx="0" cy="548640"/>
          </a:xfrm>
          <a:prstGeom prst="line">
            <a:avLst/>
          </a:prstGeom>
          <a:ln w="3810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446520" y="5486400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2437"/>
                </a:solidFill>
                <a:latin typeface="Noto Sans CJK JP"/>
              </a:rPr>
              <a:t>ラベルなし動画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46520" y="5769864"/>
            <a:ext cx="29260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92437"/>
                </a:solidFill>
                <a:latin typeface="Noto Sans CJK JP"/>
              </a:rPr>
              <a:t>時間順に逐次入力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6520" y="6035040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Noto Sans CJK JP"/>
              </a:rPr>
              <a:t>窓内の相対順序だけを使用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070848" y="6355080"/>
            <a:ext cx="1188720" cy="0"/>
          </a:xfrm>
          <a:prstGeom prst="line">
            <a:avLst/>
          </a:prstGeom>
          <a:ln w="29209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878824" y="6062472"/>
            <a:ext cx="177393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B6B82"/>
                </a:solidFill>
                <a:latin typeface="Noto Sans CJK JP"/>
              </a:rPr>
              <a:t>時間順に窓をスライド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4800600" y="2167128"/>
            <a:ext cx="0" cy="539496"/>
          </a:xfrm>
          <a:prstGeom prst="line">
            <a:avLst/>
          </a:prstGeom>
          <a:ln w="34290">
            <a:solidFill>
              <a:srgbClr val="2E5E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 flipV="1">
            <a:off x="2560320" y="1874519"/>
            <a:ext cx="2240280" cy="292609"/>
          </a:xfrm>
          <a:prstGeom prst="line">
            <a:avLst/>
          </a:prstGeom>
          <a:ln w="20320">
            <a:solidFill>
              <a:srgbClr val="3643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02920" y="6601968"/>
            <a:ext cx="7818120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E24A33"/>
                </a:solidFill>
                <a:latin typeface="Noto Sans CJK JP"/>
              </a:rPr>
              <a:t>仮説：ΔWには静的な動画ドメイン差分も混ざりうる。きれいな分離は仮定せず検証する。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375904" y="6601968"/>
            <a:ext cx="3374136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5B6B82"/>
                </a:solidFill>
                <a:latin typeface="Noto Sans CJK JP"/>
              </a:rPr>
              <a:t>将来：動作認識 ｜ 動画生成 ｜ 動画×言語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6757416"/>
            <a:ext cx="11247120" cy="731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B6B82"/>
                </a:solidFill>
                <a:latin typeface="Noto Sans CJK JP"/>
              </a:rPr>
              <a:t>Source: Project README / Brainstorm notes (2026-10-26 13:55, 14:25, 15:10 JST)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